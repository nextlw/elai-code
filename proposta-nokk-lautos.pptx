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1371600"/>
            <a:ext cx="5029200" cy="5029200"/>
          </a:xfrm>
          <a:prstGeom prst="ellipse">
            <a:avLst/>
          </a:prstGeom>
          <a:solidFill>
            <a:srgbClr val="4A9EFF">
              <a:alpha val="12000"/>
            </a:srgbClr>
          </a:solidFill>
          <a:ln w="12700">
            <a:solidFill>
              <a:srgbClr val="4A9E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11480"/>
            <a:ext cx="1645920" cy="347472"/>
          </a:xfrm>
          <a:prstGeom prst="rect">
            <a:avLst/>
          </a:prstGeom>
          <a:solidFill>
            <a:srgbClr val="0D1729"/>
          </a:solidFill>
          <a:ln w="10160">
            <a:solidFill>
              <a:srgbClr val="4A9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14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nokk-chat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Nexcode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4114800" cy="0"/>
          </a:xfrm>
          <a:prstGeom prst="line">
            <a:avLst/>
          </a:prstGeom>
          <a:noFill/>
          <a:ln w="1905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COMERCIAL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Automação Inteligente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Cotações e BIDs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148840" cy="1005840"/>
          </a:xfrm>
          <a:prstGeom prst="rect">
            <a:avLst/>
          </a:prstGeom>
          <a:solidFill>
            <a:srgbClr val="0D1729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19856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estimado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34640" y="3383280"/>
            <a:ext cx="2148840" cy="100584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419856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dias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834640" y="3931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12080" y="3383280"/>
            <a:ext cx="2148840" cy="1005840"/>
          </a:xfrm>
          <a:prstGeom prst="rect">
            <a:avLst/>
          </a:prstGeom>
          <a:solidFill>
            <a:srgbClr val="0D1729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419856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R$7.600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12080" y="3931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líq./mês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exclusivamente para  LAUTOS  ·  Maio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5752" y="-914400"/>
            <a:ext cx="3657600" cy="3657600"/>
          </a:xfrm>
          <a:prstGeom prst="ellipse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Sua operação perde tempo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dinheiro a cada BID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1920240"/>
          </a:xfrm>
          <a:prstGeom prst="rect">
            <a:avLst/>
          </a:prstGeom>
          <a:solidFill>
            <a:srgbClr val="1A0D0D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214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 4–7 dias por BID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manual consome semanas por mês só em leitura de editais e cálculo de viabilidade.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394960" cy="192024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214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📧  100k e-mails/mês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5420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Cotações chegam de todos os lados. Sem triagem automática, oportunidades escorregam.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5394960" cy="1920240"/>
          </a:xfrm>
          <a:prstGeom prst="rect">
            <a:avLst/>
          </a:prstGeom>
          <a:solidFill>
            <a:srgbClr val="0A1F18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702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Erros de precificação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6908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manual gera inconsistências. Um erro num BID pode custar R$470k de contrato.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4069080"/>
            <a:ext cx="5394960" cy="1920240"/>
          </a:xfrm>
          <a:prstGeom prst="rect">
            <a:avLst/>
          </a:prstGeom>
          <a:solidFill>
            <a:srgbClr val="130D29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42702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 Retrabalho constante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6908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 recriadas do zero a cada cliente. Sem histórico de sinergia ou padrão escalável.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19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nokk-chat  ·  Nexcode  ·  adm@nexcode.live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16952" y="64190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— uso exclusivo LAUTOS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-914400"/>
            <a:ext cx="4572000" cy="45720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nokk-chat automatiza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o seu ciclo comercial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57600" cy="448056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Cotação Padrão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3291840" cy="274320"/>
          </a:xfrm>
          <a:prstGeom prst="rect">
            <a:avLst/>
          </a:prstGeom>
          <a:solidFill>
            <a:srgbClr val="4A9EFF">
              <a:alpha val="20000"/>
            </a:srgbClr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169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 → 2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Recebe e-mail de cotação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75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Parsing automático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77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Consulta tabelas de preço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178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Proposta enviada automaticamente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874520"/>
            <a:ext cx="3657600" cy="4480560"/>
          </a:xfrm>
          <a:prstGeom prst="rect">
            <a:avLst/>
          </a:prstGeom>
          <a:solidFill>
            <a:srgbClr val="0A1F18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80560" y="2487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Proposta Comercial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2907792"/>
            <a:ext cx="3291840" cy="274320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9169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2–4h → 15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Lê solicitação do cliente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3575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Analisa histórico de sinergia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3877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Calcula margens e rotas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4178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Gera proposta formatada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1874520"/>
            <a:ext cx="3657600" cy="4480560"/>
          </a:xfrm>
          <a:prstGeom prst="rect">
            <a:avLst/>
          </a:prstGeom>
          <a:solidFill>
            <a:srgbClr val="1A0D0D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21040" y="2487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Análise de BID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21040" y="2907792"/>
            <a:ext cx="3291840" cy="274320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9169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4–7 dias → 4–6h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Extrai edital completo (Jina AI)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3575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Diagnóstico de cobertura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877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Análise de sinergia de clientes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4178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Recomendação decisória final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19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nokk-chat  ·  Nexcode  ·  adm@nexcode.live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16952" y="64190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— uso exclusivo LAUTOS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4114800" cy="41148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5752" y="-457200"/>
            <a:ext cx="3657600" cy="3657600"/>
          </a:xfrm>
          <a:prstGeom prst="ellipse">
            <a:avLst/>
          </a:prstGeom>
          <a:solidFill>
            <a:srgbClr val="4A9EFF">
              <a:alpha val="12000"/>
            </a:srgbClr>
          </a:solidFill>
          <a:ln w="12700">
            <a:solidFill>
              <a:srgbClr val="4A9E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SOBRE INVESTIMENTO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Economia real para a LAUTOS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51760" cy="1417320"/>
          </a:xfrm>
          <a:prstGeom prst="rect">
            <a:avLst/>
          </a:prstGeom>
          <a:solidFill>
            <a:srgbClr val="0D1729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R$9.000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economia/mês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141732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7276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304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mensal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1417320"/>
          </a:xfrm>
          <a:prstGeom prst="rect">
            <a:avLst/>
          </a:prstGeom>
          <a:solidFill>
            <a:srgbClr val="0D1729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7276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dias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2304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508760"/>
            <a:ext cx="2651760" cy="1417320"/>
          </a:xfrm>
          <a:prstGeom prst="rect">
            <a:avLst/>
          </a:prstGeom>
          <a:solidFill>
            <a:srgbClr val="0D1729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57276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R$7.600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61120" y="2304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líq./mês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11274552" cy="228600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91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Composição da economia mensal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automatizada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3703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ganho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(R$50/h)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Cotações Padrão  (30 min cada)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50h economizadas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R$ 2.500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43525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Propostas Comerciais  (2h cada)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43525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40h economizadas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0120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R$ 2.000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" y="47000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Análises de BID  (6h cada)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0" y="4700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90h economizadas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0" y="4700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R$ 4.500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1520" y="510235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Investimento: R$1.400/mês  →  Lucro líquido: R$7.600/mês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19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nokk-chat  ·  Nexcode  ·  adm@nexcode.live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16952" y="64190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— uso exclusivo LAUTOS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65676" y="-137160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de IA em 5 etapas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06908" y="1600200"/>
            <a:ext cx="2011680" cy="411480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0140" y="1810512"/>
            <a:ext cx="585216" cy="585216"/>
          </a:xfrm>
          <a:prstGeom prst="ellipse">
            <a:avLst/>
          </a:prstGeom>
          <a:solidFill>
            <a:srgbClr val="4A9EFF">
              <a:alpha val="80000"/>
            </a:srgbClr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" y="2523744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Recebimento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" y="2962656"/>
            <a:ext cx="17373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chega, nokk-chat faz parsing automático e classifica o tipo de demanda.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5164" y="3611880"/>
            <a:ext cx="256032" cy="0"/>
          </a:xfrm>
          <a:prstGeom prst="line">
            <a:avLst/>
          </a:prstGeom>
          <a:noFill/>
          <a:ln w="15240">
            <a:solidFill>
              <a:srgbClr val="4A9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0262" y="34930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7772" y="1600200"/>
            <a:ext cx="2011680" cy="4114800"/>
          </a:xfrm>
          <a:prstGeom prst="rect">
            <a:avLst/>
          </a:prstGeom>
          <a:solidFill>
            <a:srgbClr val="0A1F18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1004" y="1810512"/>
            <a:ext cx="585216" cy="585216"/>
          </a:xfrm>
          <a:prstGeom prst="ellipse">
            <a:avLst/>
          </a:prstGeom>
          <a:solidFill>
            <a:srgbClr val="00D4AA">
              <a:alpha val="80000"/>
            </a:srgbClr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1004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57500" y="2523744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4932" y="2962656"/>
            <a:ext cx="17373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Jina AI lê o PDF/Word do edital e converte em dados estruturados (JSON).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96028" y="3611880"/>
            <a:ext cx="256032" cy="0"/>
          </a:xfrm>
          <a:prstGeom prst="line">
            <a:avLst/>
          </a:prstGeom>
          <a:noFill/>
          <a:ln w="1524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1126" y="34930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88636" y="1600200"/>
            <a:ext cx="2011680" cy="4114800"/>
          </a:xfrm>
          <a:prstGeom prst="rect">
            <a:avLst/>
          </a:prstGeom>
          <a:solidFill>
            <a:srgbClr val="1A0D0D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1868" y="1810512"/>
            <a:ext cx="585216" cy="585216"/>
          </a:xfrm>
          <a:prstGeom prst="ellipse">
            <a:avLst/>
          </a:prstGeom>
          <a:solidFill>
            <a:srgbClr val="FF6B6B">
              <a:alpha val="80000"/>
            </a:srgbClr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1868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98364" y="2523744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Análise 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25796" y="2962656"/>
            <a:ext cx="17373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M2.5 processa os dados: cobertura, sinergia, viabilidade e preço.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6892" y="3611880"/>
            <a:ext cx="256032" cy="0"/>
          </a:xfrm>
          <a:prstGeom prst="line">
            <a:avLst/>
          </a:prstGeom>
          <a:noFill/>
          <a:ln w="1524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1990" y="34930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29500" y="1600200"/>
            <a:ext cx="2011680" cy="4114800"/>
          </a:xfrm>
          <a:prstGeom prst="rect">
            <a:avLst/>
          </a:prstGeom>
          <a:solidFill>
            <a:srgbClr val="130D29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42732" y="1810512"/>
            <a:ext cx="585216" cy="585216"/>
          </a:xfrm>
          <a:prstGeom prst="ellipse">
            <a:avLst/>
          </a:prstGeom>
          <a:solidFill>
            <a:srgbClr val="8B5CF6">
              <a:alpha val="8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42732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39228" y="2523744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Relatório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66660" y="2962656"/>
            <a:ext cx="17373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decisório gerado com recomendação: participar / não participar / preço-alvo.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477756" y="3611880"/>
            <a:ext cx="256032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72854" y="34930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770364" y="1600200"/>
            <a:ext cx="2011680" cy="411480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83596" y="1810512"/>
            <a:ext cx="585216" cy="585216"/>
          </a:xfrm>
          <a:prstGeom prst="ellipse">
            <a:avLst/>
          </a:prstGeom>
          <a:solidFill>
            <a:srgbClr val="4A9EFF">
              <a:alpha val="80000"/>
            </a:srgbClr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83596" y="1810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880092" y="2523744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907524" y="2962656"/>
            <a:ext cx="17373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ou notificação enviada automaticamente ao solicitante e ao time interno.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0" y="6016752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M2.5  ·  Jina AI  ·  OpenRouter  ·  Railway  ·  Redis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419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nokk-chat  ·  Nexcode  ·  adm@nexcode.live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616952" y="64190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— uso exclusivo LAUTOS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88552" y="3657600"/>
            <a:ext cx="4114800" cy="4114800"/>
          </a:xfrm>
          <a:prstGeom prst="ellipse">
            <a:avLst/>
          </a:prstGeom>
          <a:solidFill>
            <a:srgbClr val="4A9EFF">
              <a:alpha val="12000"/>
            </a:srgbClr>
          </a:solidFill>
          <a:ln w="12700">
            <a:solidFill>
              <a:srgbClr val="4A9EF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E PREÇOS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Escolha o plano ideal para a LAUTOS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3794760" cy="4709160"/>
          </a:xfrm>
          <a:prstGeom prst="rect">
            <a:avLst/>
          </a:prstGeom>
          <a:solidFill>
            <a:srgbClr val="0A1F18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5681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2257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R$800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273552"/>
            <a:ext cx="3246120" cy="0"/>
          </a:xfrm>
          <a:prstGeom prst="line">
            <a:avLst/>
          </a:prstGeom>
          <a:noFill/>
          <a:ln w="8890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50.000 e-mails recebidos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87705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500 interações/mês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42793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100 Cotações Padrão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68172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— BID (pay-per-use R$1,28)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508406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Dashboard de métricas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Suporte 9–18h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0" y="1481328"/>
            <a:ext cx="3794760" cy="498348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72100" y="1225296"/>
            <a:ext cx="1645920" cy="31089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2100" y="122529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LAUTOS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168249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04825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R$1.400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480560" y="268833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999232"/>
            <a:ext cx="3246120" cy="0"/>
          </a:xfrm>
          <a:prstGeom prst="line">
            <a:avLst/>
          </a:prstGeom>
          <a:noFill/>
          <a:ln w="8890">
            <a:solidFill>
              <a:srgbClr val="4A9EFF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20040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100.000 e-mails recebidos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0" y="360273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1.000 interações/mês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0" y="400507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100 BIDs médios/mês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0" y="440740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100 Propostas Comerciais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0" y="480974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100 Cotações Sinergia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80560" y="52120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100 Cotações Padrão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80560" y="561441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Rollover 30% não usados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601675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Dashboard + suporte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29600" y="1755648"/>
            <a:ext cx="3794760" cy="4709160"/>
          </a:xfrm>
          <a:prstGeom prst="rect">
            <a:avLst/>
          </a:prstGeom>
          <a:solidFill>
            <a:srgbClr val="130D29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195681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232257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R$2.200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8412480" y="296265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0" y="3273552"/>
            <a:ext cx="3246120" cy="0"/>
          </a:xfrm>
          <a:prstGeom prst="line">
            <a:avLst/>
          </a:prstGeom>
          <a:noFill/>
          <a:ln w="889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347472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200.000 e-mails recebidos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0" y="387705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5.000 interações/mês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12480" y="42793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500 de cada análise/mês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412480" y="468172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WhatsApp Business incluso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412480" y="508406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Integração ERP/WMS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12480" y="548640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SLA 99,5% + Manager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12480" y="588873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Reuniões quinzenais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0" y="6016752"/>
            <a:ext cx="12188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Excedentes cobrados conforme uso real  ·  Sem surpresas na fatura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419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nokk-chat  ·  Nexcode  ·  adm@nexcode.live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616952" y="64190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— uso exclusivo LAUTOS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-914400"/>
            <a:ext cx="3657600" cy="36576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semanas para a LAUTOS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operar em piloto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57600" cy="425196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1188720" cy="292608"/>
          </a:xfrm>
          <a:prstGeom prst="rect">
            <a:avLst/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Setup &amp; Integração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3291840" cy="0"/>
          </a:xfrm>
          <a:prstGeom prst="line">
            <a:avLst/>
          </a:prstGeom>
          <a:noFill/>
          <a:ln w="7620">
            <a:solidFill>
              <a:srgbClr val="4A9E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992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Conexão ao e-mail LAUTOS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401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Configuração nokk-chat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8039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Integração portal BRUDAM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2062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Treinamento de prompts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60520" y="3657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97680" y="1874520"/>
            <a:ext cx="3657600" cy="4251960"/>
          </a:xfrm>
          <a:prstGeom prst="rect">
            <a:avLst/>
          </a:prstGeom>
          <a:solidFill>
            <a:srgbClr val="0A1F18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2011680"/>
            <a:ext cx="1188720" cy="292608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0116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3957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Piloto Controlado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2871216"/>
            <a:ext cx="3291840" cy="0"/>
          </a:xfrm>
          <a:prstGeom prst="line">
            <a:avLst/>
          </a:prstGeom>
          <a:noFill/>
          <a:ln w="762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9992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10 cotações padrão ao vivo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6280" y="3401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5 propostas comerciais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38039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2 BIDs completos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26280" y="42062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Ajustes finos de cobertura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01000" y="3657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38160" y="1874520"/>
            <a:ext cx="3657600" cy="4251960"/>
          </a:xfrm>
          <a:prstGeom prst="rect">
            <a:avLst/>
          </a:prstGeom>
          <a:solidFill>
            <a:srgbClr val="1A0D0D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2011680"/>
            <a:ext cx="1188720" cy="29260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0116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23957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Go-Live Completo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21040" y="2871216"/>
            <a:ext cx="3291840" cy="0"/>
          </a:xfrm>
          <a:prstGeom prst="line">
            <a:avLst/>
          </a:prstGeom>
          <a:noFill/>
          <a:ln w="762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29992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Operação 100% automática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6760" y="3401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Dashboard de métricas ativo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66760" y="38039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Reunião de revisão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66760" y="42062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Rollover e cotas configurados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0" y="6016752"/>
            <a:ext cx="12188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Mês 1:  R$3.900  (R$2.500 setup + R$1.400 assinatura)  ·  Recorrente: R$1.400/mês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19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nokk-chat  ·  Nexcode  ·  adm@nexcode.live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16952" y="64190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— uso exclusivo LAUTOS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-914400"/>
            <a:ext cx="4572000" cy="4572000"/>
          </a:xfrm>
          <a:prstGeom prst="ellipse">
            <a:avLst/>
          </a:prstGeom>
          <a:solidFill>
            <a:srgbClr val="4A9EFF">
              <a:alpha val="12000"/>
            </a:srgbClr>
          </a:solidFill>
          <a:ln w="12700">
            <a:solidFill>
              <a:srgbClr val="4A9E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5676" y="5029200"/>
            <a:ext cx="3200400" cy="32004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Pronto para começar?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9445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reunião de 30 min para alinhar escopo do piloto.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377440"/>
            <a:ext cx="6702552" cy="0"/>
          </a:xfrm>
          <a:prstGeom prst="line">
            <a:avLst/>
          </a:prstGeom>
          <a:noFill/>
          <a:ln w="10160">
            <a:solidFill>
              <a:srgbClr val="4A9E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43200"/>
            <a:ext cx="3200400" cy="1280160"/>
          </a:xfrm>
          <a:prstGeom prst="rect">
            <a:avLst/>
          </a:prstGeom>
          <a:solidFill>
            <a:srgbClr val="0D1729"/>
          </a:solidFill>
          <a:ln w="15240">
            <a:solidFill>
              <a:srgbClr val="4A9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80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adm@nexcode.live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743200"/>
            <a:ext cx="3200400" cy="1280160"/>
          </a:xfrm>
          <a:prstGeom prst="rect">
            <a:avLst/>
          </a:prstGeom>
          <a:solidFill>
            <a:srgbClr val="0D1729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880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8056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nokk-chat by Nexcode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2743200"/>
            <a:ext cx="3200400" cy="1280160"/>
          </a:xfrm>
          <a:prstGeom prst="rect">
            <a:avLst/>
          </a:prstGeom>
          <a:solidFill>
            <a:srgbClr val="0D1729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880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95528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 · R$1.400/mês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SLA 99,5%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4904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Sem lock-in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Rollover de análises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Suporte 9–18h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0" y="6400800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nokk-chat  ·  Nexcode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nokk-chat para LAUTOS</dc:title>
  <dc:subject>Proposta Comercial nokk-chat — LAUTOS</dc:subject>
  <dc:creator>Nexcode</dc:creator>
  <cp:lastModifiedBy>Nexcode</cp:lastModifiedBy>
  <cp:revision>1</cp:revision>
  <dcterms:created xsi:type="dcterms:W3CDTF">2026-05-06T15:22:55Z</dcterms:created>
  <dcterms:modified xsi:type="dcterms:W3CDTF">2026-05-06T15:22:55Z</dcterms:modified>
</cp:coreProperties>
</file>